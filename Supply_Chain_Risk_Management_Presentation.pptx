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th Nicholas" userId="2acf6d6a5dcbe79d" providerId="LiveId" clId="{21710D93-67AB-4F8F-8A44-58DDC7EC8139}"/>
    <pc:docChg chg="modSld">
      <pc:chgData name="Faith Nicholas" userId="2acf6d6a5dcbe79d" providerId="LiveId" clId="{21710D93-67AB-4F8F-8A44-58DDC7EC8139}" dt="2026-08-17T13:15:27.423" v="1"/>
      <pc:docMkLst>
        <pc:docMk/>
      </pc:docMkLst>
      <pc:sldChg chg="modTransition">
        <pc:chgData name="Faith Nicholas" userId="2acf6d6a5dcbe79d" providerId="LiveId" clId="{21710D93-67AB-4F8F-8A44-58DDC7EC8139}" dt="2026-08-17T13:15:27.423" v="1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5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24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4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20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0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6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0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17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78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23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7383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17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76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27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63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15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52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Supply Chain Risk &amp; Fulfillment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Evidence-based findings, business impact and management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Dataset: 113,097 supply-chain records across supplier countries.</a:t>
            </a:r>
          </a:p>
          <a:p>
            <a:pPr>
              <a:spcAft>
                <a:spcPts val="1000"/>
              </a:spcAft>
              <a:defRPr sz="2100"/>
            </a:pPr>
            <a:r>
              <a:t>Overall analytical focus: supplier performance, lead-time risk, inventory effectiveness and risk classification.</a:t>
            </a:r>
          </a:p>
          <a:p>
            <a:pPr>
              <a:spcAft>
                <a:spcPts val="1000"/>
              </a:spcAft>
              <a:defRPr sz="2100"/>
            </a:pPr>
            <a:r>
              <a:t>Management question: where should limited risk-management attention be concentrated first?</a:t>
            </a:r>
          </a:p>
          <a:p>
            <a:pPr>
              <a:spcAft>
                <a:spcPts val="1000"/>
              </a:spcAft>
              <a:defRPr sz="2100"/>
            </a:pPr>
            <a:r>
              <a:t>Headline conclusion: High Risk should receive priority because it represents the largest exposure by volume, while fulfillment is slightly weaker than the other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Source: supplied dynamic supply-chain logistics dataset; analysis by ChatGPT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Supplier-country performance varies: the lowest observed average fulfillment is 0.581 (Switzerland), versus 0.620 (Oman).</a:t>
            </a:r>
          </a:p>
          <a:p>
            <a:pPr>
              <a:spcAft>
                <a:spcPts val="1000"/>
              </a:spcAft>
              <a:defRPr sz="1800"/>
            </a:pPr>
            <a:r>
              <a:t>Lead time is right-skewed (skewness 0.81); a smaller group of long-lead-time cases creates disproportionate delay exposure.</a:t>
            </a:r>
          </a:p>
          <a:p>
            <a:pPr>
              <a:spcAft>
                <a:spcPts val="1000"/>
              </a:spcAft>
              <a:defRPr sz="1800"/>
            </a:pPr>
            <a:r>
              <a:t>Inventory is not a strong driver of fulfillment in this dataset (correlation -0.005); simply holding more stock is unlikely to solve the problem.</a:t>
            </a:r>
          </a:p>
          <a:p>
            <a:pPr>
              <a:spcAft>
                <a:spcPts val="1000"/>
              </a:spcAft>
              <a:defRPr sz="1800"/>
            </a:pPr>
            <a:r>
              <a:t>High Risk accounts for 74.6% of records and has fulfillment of 0.599.</a:t>
            </a:r>
          </a:p>
          <a:p>
            <a:pPr>
              <a:spcAft>
                <a:spcPts val="1000"/>
              </a:spcAft>
              <a:defRPr sz="1800"/>
            </a:pPr>
            <a:r>
              <a:t>Priority: High Risk first, then target the specific suppliers/routes creating the long-tail lead-time and low-fulfillment exposure.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Source: supplied dynamic supply-chain logistics dataset; analysis by ChatGPT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Finding 1 — Supplier Countries Show Meaningful Performance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Evidence → business impact → practical action</a:t>
            </a:r>
          </a:p>
        </p:txBody>
      </p:sp>
      <p:pic>
        <p:nvPicPr>
          <p:cNvPr id="4" name="Picture 3" descr="country_fulfill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303520" cy="27841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2344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EVIDENCE: Bottom performers include Switzerland (0.581) and China (0.582); top performers include Oman (0.620).</a:t>
            </a:r>
          </a:p>
          <a:p>
            <a:pPr>
              <a:spcAft>
                <a:spcPts val="1000"/>
              </a:spcAft>
              <a:defRPr sz="1500"/>
            </a:pPr>
            <a:r>
              <a:t>IMPACT: Country-level variation can signal differences in supplier execution, route reliability, customs exposure or operating conditions. This creates inconsistent service levels and customer experience.</a:t>
            </a:r>
          </a:p>
          <a:p>
            <a:pPr>
              <a:spcAft>
                <a:spcPts val="1000"/>
              </a:spcAft>
              <a:defRPr sz="1500"/>
            </a:pPr>
            <a:r>
              <a:t>ACTION: Introduce a supplier-country performance scorecard with quarterly review thresholds; investigate the bottom 10% and replicate practices from the top performers.</a:t>
            </a:r>
          </a:p>
          <a:p>
            <a:pPr>
              <a:spcAft>
                <a:spcPts val="1000"/>
              </a:spcAft>
              <a:defRPr sz="1500"/>
            </a:pPr>
            <a:r>
              <a:t>Business reasoning: management should focus on controllable supplier/route decisions rather than treating all countries as equally reliable.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Source: supplied dynamic supply-chain logistics dataset; analysis by ChatGPT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Finding 2 — Lead Time Is Skewed, Creating a Long-Tail Delay Risk</a:t>
            </a:r>
          </a:p>
        </p:txBody>
      </p:sp>
      <p:pic>
        <p:nvPicPr>
          <p:cNvPr id="3" name="Picture 2" descr="lead_ti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94960" cy="28339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344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EVIDENCE: Lead-time skewness is 0.81; median is 3.3 days, while the 90th percentile is 12.9 days.</a:t>
            </a:r>
          </a:p>
          <a:p>
            <a:pPr>
              <a:spcAft>
                <a:spcPts val="1000"/>
              </a:spcAft>
              <a:defRPr sz="1500"/>
            </a:pPr>
            <a:r>
              <a:t>IMPACT: The average/typical shipment can look acceptable while a smaller set of very long shipments causes stockouts, missed customer commitments and expedited-freight costs.</a:t>
            </a:r>
          </a:p>
          <a:p>
            <a:pPr>
              <a:spcAft>
                <a:spcPts val="1000"/>
              </a:spcAft>
              <a:defRPr sz="1500"/>
            </a:pPr>
            <a:r>
              <a:t>ACTION: Create an exception-management rule for shipments above the 90th percentile; trigger early escalation, supplier contact and alternative routing.</a:t>
            </a:r>
          </a:p>
          <a:p>
            <a:pPr>
              <a:spcAft>
                <a:spcPts val="1000"/>
              </a:spcAft>
              <a:defRPr sz="1500"/>
            </a:pPr>
            <a:r>
              <a:t>Business reasoning: reducing the extreme delays can produce more operational benefit than trying to reduce every shipment's lead time by a small amount.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Source: supplied dynamic supply-chain logistics dataset; analysis by ChatGPT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Finding 3 — Higher Inventory Does Not Clearly Improve Fulfillment</a:t>
            </a:r>
          </a:p>
        </p:txBody>
      </p:sp>
      <p:pic>
        <p:nvPicPr>
          <p:cNvPr id="3" name="Picture 2" descr="inventory_fulfill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94960" cy="28339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344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EVIDENCE: Inventory-to-fulfillment correlation is only -0.005. Fulfillment remains close to 0.60 across inventory quintiles.</a:t>
            </a:r>
          </a:p>
          <a:p>
            <a:pPr>
              <a:spcAft>
                <a:spcPts val="1000"/>
              </a:spcAft>
              <a:defRPr sz="1500"/>
            </a:pPr>
            <a:r>
              <a:t>IMPACT: Increasing inventory indiscriminately may tie up working capital without materially improving service. It can also increase storage, obsolescence and handling costs.</a:t>
            </a:r>
          </a:p>
          <a:p>
            <a:pPr>
              <a:spcAft>
                <a:spcPts val="1000"/>
              </a:spcAft>
              <a:defRPr sz="1500"/>
            </a:pPr>
            <a:r>
              <a:t>ACTION: Replace blanket inventory increases with SKU/location safety-stock rules based on demand variability, lead-time variability and service targets.</a:t>
            </a:r>
          </a:p>
          <a:p>
            <a:pPr>
              <a:spcAft>
                <a:spcPts val="1000"/>
              </a:spcAft>
              <a:defRPr sz="1500"/>
            </a:pPr>
            <a:r>
              <a:t>Business reasoning: inventory should be used as a targeted buffer against uncertainty, not as the default response to poor fulfillment.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Source: supplied dynamic supply-chain logistics dataset; analysis by ChatGPT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Finding 4 — Management Should Prioritize High Risk</a:t>
            </a:r>
          </a:p>
        </p:txBody>
      </p:sp>
      <p:pic>
        <p:nvPicPr>
          <p:cNvPr id="3" name="Picture 2" descr="risk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303520" cy="27909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EVIDENCE: High Risk represents 74.6% of all records (84,368). Its fulfillment score is 0.599, below Moderate Risk (0.611) and only slightly below Low Risk (0.601).</a:t>
            </a:r>
          </a:p>
          <a:p>
            <a:pPr>
              <a:spcAft>
                <a:spcPts val="1000"/>
              </a:spcAft>
              <a:defRPr sz="1400"/>
            </a:pPr>
            <a:r>
              <a:t>IMPACT: Even if the category gap is modest, the very large exposure means small improvements in High Risk cases can affect a much larger portion of the operation.</a:t>
            </a:r>
          </a:p>
          <a:p>
            <a:pPr>
              <a:spcAft>
                <a:spcPts val="1000"/>
              </a:spcAft>
              <a:defRPr sz="1400"/>
            </a:pPr>
            <a:r>
              <a:t>ACTION: Launch a High-Risk control program: weekly exception dashboard, named owners for critical suppliers/routes, and escalation for high delay/disruption cases.</a:t>
            </a:r>
          </a:p>
          <a:p>
            <a:pPr>
              <a:spcAft>
                <a:spcPts val="1000"/>
              </a:spcAft>
              <a:defRPr sz="1400"/>
            </a:pPr>
            <a:r>
              <a:t>Why this comes first: risk priority should combine severity with exposure. High Risk has the largest exposure, so management gets the greatest potential return from focused intervention.</a:t>
            </a:r>
          </a:p>
          <a:p>
            <a:pPr>
              <a:spcAft>
                <a:spcPts val="1000"/>
              </a:spcAft>
              <a:defRPr sz="1400"/>
            </a:pPr>
            <a:r>
              <a:t>Important nuance: do not assume every High Risk record is failing; use the category to prioritize investigation, then target the worst suppliers/routes within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Source: supplied dynamic supply-chain logistics dataset; analysis by ChatGPT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Recommended Management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PRIORITIZE HIGH RISK — Build a weekly dashboard showing volume, fulfillment, delay probability, lead time and disruption exposure by supplier and route.</a:t>
            </a:r>
          </a:p>
          <a:p>
            <a:pPr>
              <a:spcAft>
                <a:spcPts val="1000"/>
              </a:spcAft>
              <a:defRPr sz="2000"/>
            </a:pPr>
            <a:r>
              <a:t>2. CONTROL THE LONG TAIL — Flag lead times above the 90th percentile for proactive escalation and recovery planning.</a:t>
            </a:r>
          </a:p>
          <a:p>
            <a:pPr>
              <a:spcAft>
                <a:spcPts val="1000"/>
              </a:spcAft>
              <a:defRPr sz="2000"/>
            </a:pPr>
            <a:r>
              <a:t>3. TARGET SUPPLIER/COUNTRY OUTLIERS — Review bottom-performing countries and suppliers; establish corrective-action plans with deadlines and owners.</a:t>
            </a:r>
          </a:p>
          <a:p>
            <a:pPr>
              <a:spcAft>
                <a:spcPts val="1000"/>
              </a:spcAft>
              <a:defRPr sz="2000"/>
            </a:pPr>
            <a:r>
              <a:t>4. OPTIMIZE INVENTORY — Avoid blanket stock increases; set safety stock using demand and lead-time variability.</a:t>
            </a:r>
          </a:p>
          <a:p>
            <a:pPr>
              <a:spcAft>
                <a:spcPts val="1000"/>
              </a:spcAft>
              <a:defRPr sz="2000"/>
            </a:pPr>
            <a:r>
              <a:t>5. MEASURE RESULTS — Track fulfillment improvement, late-order rate, average/90th-percentile lead time, expedite cost and working capital monthly.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Source: supplied dynamic supply-chain logistics dataset; analysis by ChatGPT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Conclusion &amp; Management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strongest management case is not simply 'increase inventory'. The data suggests inventory level has little relationship with fulfillment.</a:t>
            </a:r>
          </a:p>
          <a:p>
            <a:pPr>
              <a:spcAft>
                <a:spcPts val="1000"/>
              </a:spcAft>
              <a:defRPr sz="2000"/>
            </a:pPr>
            <a:r>
              <a:t>The more actionable risks are concentrated around high-risk exposure, supplier/country performance differences and the long tail of lead times.</a:t>
            </a:r>
          </a:p>
          <a:p>
            <a:pPr>
              <a:spcAft>
                <a:spcPts val="1000"/>
              </a:spcAft>
              <a:defRPr sz="2000"/>
            </a:pPr>
            <a:r>
              <a:t>Management should therefore prioritize High Risk, but use supplier- and route-level analysis to determine exactly where intervention will produce the highest return.</a:t>
            </a:r>
          </a:p>
          <a:p>
            <a:pPr>
              <a:spcAft>
                <a:spcPts val="1000"/>
              </a:spcAft>
              <a:defRPr sz="2000"/>
            </a:pPr>
            <a:r>
              <a:t>Data note: several operational fields are continuous scores rather than simple categories. Findings should be treated as directional evidence for prioritization and validated against operational records before major supplier or inventory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Source: supplied dynamic supply-chain logistics dataset; analysis by ChatGPT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978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Faith Nicholas</cp:lastModifiedBy>
  <cp:revision>1</cp:revision>
  <dcterms:created xsi:type="dcterms:W3CDTF">2013-01-27T09:14:16Z</dcterms:created>
  <dcterms:modified xsi:type="dcterms:W3CDTF">2026-08-17T13:16:49Z</dcterms:modified>
  <cp:category/>
</cp:coreProperties>
</file>